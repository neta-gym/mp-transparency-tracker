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0F2F8"/>
                </a:solidFill>
                <a:latin typeface="Noto Sans"/>
              </a:rPr>
              <a:t>NETA GYM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487168"/>
            <a:ext cx="2377440" cy="63500"/>
          </a:xfrm>
          <a:prstGeom prst="rect">
            <a:avLst/>
          </a:prstGeom>
          <a:solidFill>
            <a:srgbClr val="F49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914400" cy="63500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51960" y="2487168"/>
            <a:ext cx="1463040" cy="635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0F2F8"/>
                </a:solidFill>
                <a:latin typeface="Noto Sans"/>
              </a:rPr>
              <a:t>Ask any Indian MP about their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6A0B4"/>
                </a:solidFill>
                <a:latin typeface="Noto Sans"/>
              </a:rPr>
              <a:t>A voice agent built on the AssemblyAI Voice Agent API.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96A0B4"/>
                </a:solidFill>
                <a:latin typeface="Noto Sans"/>
              </a:rPr>
              <a:t>786 MPs. Public Parliament data. Spoken, sourced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AC8FA"/>
                </a:solidFill>
                <a:latin typeface="Noto Sans"/>
              </a:rPr>
              <a:t>Live: netagym-voice.onrender.com/talk      Code: github.com/neta-gym/mp-transparency-tracker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96A0B4"/>
                </a:solidFill>
                <a:latin typeface="Noto Sans"/>
              </a:rPr>
              <a:t>Team: Neta Gym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9237"/>
                </a:solidFill>
                <a:latin typeface="Noto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F2F8"/>
                </a:solidFill>
                <a:latin typeface="Noto Sans"/>
              </a:rPr>
              <a:t>Everything is public. Nobody looks.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508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Rich public data, zero access. </a:t>
            </a:r>
            <a:r>
              <a:rPr sz="1800">
                <a:solidFill>
                  <a:srgbClr val="96A0B4"/>
                </a:solidFill>
                <a:latin typeface="Noto Sans"/>
              </a:rPr>
              <a:t>Attendance, questions, debates, declared assets and criminal cases for every MP are public - locked in PDFs and databases.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No voter-friendly interface. </a:t>
            </a:r>
            <a:r>
              <a:rPr sz="1800">
                <a:solidFill>
                  <a:srgbClr val="96A0B4"/>
                </a:solidFill>
                <a:latin typeface="Noto Sans"/>
              </a:rPr>
              <a:t>PRS, Parliament portals and ADR affidavits are built for researchers, not citizens.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Trust gap. </a:t>
            </a:r>
            <a:r>
              <a:rPr sz="1800">
                <a:solidFill>
                  <a:srgbClr val="96A0B4"/>
                </a:solidFill>
                <a:latin typeface="Noto Sans"/>
              </a:rPr>
              <a:t>Voters pick MPs on slogans because checking a record takes hours of digging.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Scale of the blind spot: </a:t>
            </a:r>
            <a:r>
              <a:rPr sz="1800">
                <a:solidFill>
                  <a:srgbClr val="96A0B4"/>
                </a:solidFill>
                <a:latin typeface="Noto Sans"/>
              </a:rPr>
              <a:t>786 MPs in the 18th Lok Sabha and Rajya Sabha - almost no one can name their own MP's attendance.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Neta Gym Voice - AssemblyAI Voice Agent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9237"/>
                </a:solidFill>
                <a:latin typeface="Noto Sans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F2F8"/>
                </a:solidFill>
                <a:latin typeface="Noto Sans"/>
              </a:rPr>
              <a:t>Call. Ask. Get a sourced spoken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508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9237"/>
                </a:solidFill>
                <a:latin typeface="Not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0F2F8"/>
                </a:solidFill>
                <a:latin typeface="Noto Sans"/>
              </a:rPr>
              <a:t>Ask out 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6A0B4"/>
                </a:solidFill>
                <a:latin typeface="Noto Sans"/>
              </a:rPr>
              <a:t>“What is Rajiv Pratap Rudy's attendance?” - plain words, no app to install, no jargon.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2024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1488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9237"/>
                </a:solidFill>
                <a:latin typeface="Not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88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0F2F8"/>
                </a:solidFill>
                <a:latin typeface="Noto Sans"/>
              </a:rPr>
              <a:t>AssemblyAI runs the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383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6A0B4"/>
                </a:solidFill>
                <a:latin typeface="Noto Sans"/>
              </a:rPr>
              <a:t>Streaming speech-to-text, turn-taking, and text-to-speech via the Voice Agent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488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9237"/>
                </a:solidFill>
                <a:latin typeface="Not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88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0F2F8"/>
                </a:solidFill>
                <a:latin typeface="Noto Sans"/>
              </a:rPr>
              <a:t>The data brain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83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6A0B4"/>
                </a:solidFill>
                <a:latin typeface="Noto Sans"/>
              </a:rPr>
              <a:t>A deterministic tool looks up the MP's public record - and the agent speaks it, with the 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0F2F8"/>
                </a:solidFill>
                <a:latin typeface="Noto Sans"/>
              </a:rPr>
              <a:t>Works in Hindi or English at the speech layer. 786 MPs indexed, 784 scored.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C8FA"/>
                </a:solidFill>
                <a:latin typeface="Noto Sans"/>
              </a:rPr>
              <a:t>Same answers on the web: neta-gym.github.io/mp-transparency-tracker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Neta Gym Voice - AssemblyAI Voice Agent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9237"/>
                </a:solidFill>
                <a:latin typeface="Noto Sans"/>
              </a:rPr>
              <a:t>REAL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F2F8"/>
                </a:solidFill>
                <a:latin typeface="Noto Sans"/>
              </a:rPr>
              <a:t>Verified live on the deployed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508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950976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49237"/>
                </a:solidFill>
                <a:latin typeface="Noto Sans"/>
              </a:rPr>
              <a:t>What is the attendance of Rajiv Pratap Rudy?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38528"/>
            <a:ext cx="7223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0F2F8"/>
                </a:solidFill>
                <a:latin typeface="Noto Sans"/>
              </a:rPr>
              <a:t>“Rajiv Pratap Rudy, Bharatiya Janata Party MP from Saran, Bihar has attended 100 percent of Parliament sittings, with 36 questions asked.”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07791"/>
            <a:ext cx="10972800" cy="950976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49237"/>
                </a:solidFill>
                <a:latin typeface="Noto Sans"/>
              </a:rPr>
              <a:t>How many questions has Asaduddin Owaisi asked?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7223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0F2F8"/>
                </a:solidFill>
                <a:latin typeface="Noto Sans"/>
              </a:rPr>
              <a:t>“Asaduddin Owaisi, AIMIM MP from Hyderabad, Telangana has asked 29 questions in Parliament and taken part in 15 debates.”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86783"/>
            <a:ext cx="10972800" cy="950976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1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49237"/>
                </a:solidFill>
                <a:latin typeface="Noto Sans"/>
              </a:rPr>
              <a:t>Tell me about Sanjay Kumar Jha.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96511"/>
            <a:ext cx="7223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0F2F8"/>
                </a:solidFill>
                <a:latin typeface="Noto Sans"/>
              </a:rPr>
              <a:t>“Sanjay Kumar Jha, Janata Dal (United) MP from Rajya Sabha (Bihar) scores 69.6 out of 100 on transparency.”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65775"/>
            <a:ext cx="10972800" cy="950976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75503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49237"/>
                </a:solidFill>
                <a:latin typeface="Noto Sans"/>
              </a:rPr>
              <a:t>What is the attendance of Rahul Gandhi?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175503"/>
            <a:ext cx="7223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0F2F8"/>
                </a:solidFill>
                <a:latin typeface="Noto Sans"/>
              </a:rPr>
              <a:t>“We don't have a reliable public source for Rahul Gandhi's attendance yet.” - the agent says so instead of guessing.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1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6A0B4"/>
                </a:solidFill>
                <a:latin typeface="Noto Sans"/>
              </a:rPr>
              <a:t>Every figure is a database lookup from public sources - no LLM invents a number.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Neta Gym Voice - AssemblyAI Voice Agent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9237"/>
                </a:solidFill>
                <a:latin typeface="Noto San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F2F8"/>
                </a:solidFill>
                <a:latin typeface="Noto Sans"/>
              </a:rPr>
              <a:t>A boring tool owns the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508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AC8FA"/>
                </a:solidFill>
                <a:latin typeface="Noto Sans"/>
              </a:rPr>
              <a:t>Caller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29184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96A0B4"/>
                </a:solidFill>
                <a:latin typeface="Noto Sans"/>
              </a:rPr>
              <a:t>browser mic
(talk page)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2968" y="3035808"/>
            <a:ext cx="411480" cy="365760"/>
          </a:xfrm>
          <a:prstGeom prst="rightArrow">
            <a:avLst/>
          </a:prstGeom>
          <a:solidFill>
            <a:srgbClr val="96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3774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49237"/>
                </a:solidFill>
                <a:latin typeface="Noto Sans"/>
              </a:rPr>
              <a:t>AssemblyAI
Voice Agent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9184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96A0B4"/>
                </a:solidFill>
                <a:latin typeface="Noto Sans"/>
              </a:rPr>
              <a:t>streaming STT -
turn-taking - TTS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44768" y="3035808"/>
            <a:ext cx="411480" cy="365760"/>
          </a:xfrm>
          <a:prstGeom prst="rightArrow">
            <a:avLst/>
          </a:prstGeom>
          <a:solidFill>
            <a:srgbClr val="96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3774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60604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CBE78"/>
                </a:solidFill>
                <a:latin typeface="Noto Sans"/>
              </a:rPr>
              <a:t>Ask tool
(deterministic)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96A0B4"/>
                </a:solidFill>
                <a:latin typeface="Noto Sans"/>
              </a:rPr>
              <a:t>rules-based parser,
no LLM in the loop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16567" y="3035808"/>
            <a:ext cx="411480" cy="365760"/>
          </a:xfrm>
          <a:prstGeom prst="rightArrow">
            <a:avLst/>
          </a:prstGeom>
          <a:solidFill>
            <a:srgbClr val="96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55480" y="23774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606040"/>
            <a:ext cx="2514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0F2F8"/>
                </a:solidFill>
                <a:latin typeface="Noto Sans"/>
              </a:rPr>
              <a:t>MP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29184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96A0B4"/>
                </a:solidFill>
                <a:latin typeface="Noto Sans"/>
              </a:rPr>
              <a:t>786 records from PRS,
Parliament, ADR/myneta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600" b="1">
                <a:solidFill>
                  <a:srgbClr val="F0F2F8"/>
                </a:solidFill>
                <a:latin typeface="Noto Sans"/>
              </a:rPr>
              <a:t>Honest by design: </a:t>
            </a:r>
            <a:r>
              <a:rPr sz="1600">
                <a:solidFill>
                  <a:srgbClr val="96A0B4"/>
                </a:solidFill>
                <a:latin typeface="Noto Sans"/>
              </a:rPr>
              <a:t>missing data (ministers, PRS gaps) returns a spoken null, never a guess.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600" b="1">
                <a:solidFill>
                  <a:srgbClr val="F0F2F8"/>
                </a:solidFill>
                <a:latin typeface="Noto Sans"/>
              </a:rPr>
              <a:t>Party-neutral: </a:t>
            </a:r>
            <a:r>
              <a:rPr sz="1600">
                <a:solidFill>
                  <a:srgbClr val="96A0B4"/>
                </a:solidFill>
                <a:latin typeface="Noto Sans"/>
              </a:rPr>
              <a:t>the 0-100 transparency score uses public metrics only; full breakup published on the web tracker.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Neta Gym Voice - AssemblyAI Voice Agent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9237"/>
                </a:solidFill>
                <a:latin typeface="Noto Sans"/>
              </a:rPr>
              <a:t>DATA &amp;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F2F8"/>
                </a:solidFill>
                <a:latin typeface="Noto Sans"/>
              </a:rPr>
              <a:t>Public sources, honest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508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Sources: </a:t>
            </a:r>
            <a:r>
              <a:rPr sz="1800">
                <a:solidFill>
                  <a:srgbClr val="96A0B4"/>
                </a:solidFill>
                <a:latin typeface="Noto Sans"/>
              </a:rPr>
              <a:t>PRS Legislative Research, Lok Sabha / Rajya Sabha portals, ADR &amp; myneta.info election affidavits.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Coverage: </a:t>
            </a:r>
            <a:r>
              <a:rPr sz="1800">
                <a:solidFill>
                  <a:srgbClr val="96A0B4"/>
                </a:solidFill>
                <a:latin typeface="Noto Sans"/>
              </a:rPr>
              <a:t>786 MPs indexed; 784 with a transparency score; 687 with attendance data.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Honest nulls: </a:t>
            </a:r>
            <a:r>
              <a:rPr sz="1800">
                <a:solidFill>
                  <a:srgbClr val="96A0B4"/>
                </a:solidFill>
                <a:latin typeface="Noto Sans"/>
              </a:rPr>
              <a:t>ministers do not mark attendance by convention - shown as null, not zero. Coverage gaps (e.g. Rahul Gandhi) are said out loud.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No LLM in the data path: </a:t>
            </a:r>
            <a:r>
              <a:rPr sz="1800">
                <a:solidFill>
                  <a:srgbClr val="96A0B4"/>
                </a:solidFill>
                <a:latin typeface="Noto Sans"/>
              </a:rPr>
              <a:t>the model only carries speech and conversation; every number is a lookup with a named source.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Neutral by construction: </a:t>
            </a:r>
            <a:r>
              <a:rPr sz="1800">
                <a:solidFill>
                  <a:srgbClr val="96A0B4"/>
                </a:solidFill>
                <a:latin typeface="Noto Sans"/>
              </a:rPr>
              <a:t>the same scorecard formula applies to every party.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Neta Gym Voice - AssemblyAI Voice Agent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9237"/>
                </a:solidFill>
                <a:latin typeface="Noto Sans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F2F8"/>
                </a:solidFill>
                <a:latin typeface="Noto Sans"/>
              </a:rPr>
              <a:t>A phone call beats a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508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Access: </a:t>
            </a:r>
            <a:r>
              <a:rPr sz="1800">
                <a:solidFill>
                  <a:srgbClr val="96A0B4"/>
                </a:solidFill>
                <a:latin typeface="Noto Sans"/>
              </a:rPr>
              <a:t>a first-time voter in Saran and a journalist in Delhi get the same instant, sourced answer - in the language they speak.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Trust: </a:t>
            </a:r>
            <a:r>
              <a:rPr sz="1800">
                <a:solidFill>
                  <a:srgbClr val="96A0B4"/>
                </a:solidFill>
                <a:latin typeface="Noto Sans"/>
              </a:rPr>
              <a:t>spoken answers always cite the source and the public tracker link; honest nulls build credibility.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Timing: </a:t>
            </a:r>
            <a:r>
              <a:rPr sz="1800">
                <a:solidFill>
                  <a:srgbClr val="96A0B4"/>
                </a:solidFill>
                <a:latin typeface="Noto Sans"/>
              </a:rPr>
              <a:t>AssemblyAI's Voice Agent API makes a production-grade call loop a weekend build - Neta Gym brings the data moat: 786 normalized MP records.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800" b="1">
                <a:solidFill>
                  <a:srgbClr val="F0F2F8"/>
                </a:solidFill>
                <a:latin typeface="Noto Sans"/>
              </a:rPr>
              <a:t>Reach: </a:t>
            </a:r>
            <a:r>
              <a:rPr sz="1800">
                <a:solidFill>
                  <a:srgbClr val="96A0B4"/>
                </a:solidFill>
                <a:latin typeface="Noto Sans"/>
              </a:rPr>
              <a:t>voice works on any phone, including for voters who do not read English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Neta Gym Voice - AssemblyAI Voice Agent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9237"/>
                </a:solidFill>
                <a:latin typeface="Noto San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F2F8"/>
                </a:solidFill>
                <a:latin typeface="Noto Sans"/>
              </a:rPr>
              <a:t>Roadmap &amp;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280160" cy="50800"/>
          </a:xfrm>
          <a:prstGeom prst="rect">
            <a:avLst/>
          </a:prstGeom>
          <a:solidFill>
            <a:srgbClr val="3C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600" b="1">
                <a:solidFill>
                  <a:srgbClr val="F0F2F8"/>
                </a:solidFill>
                <a:latin typeface="Noto Sans"/>
              </a:rPr>
              <a:t>Indic name matching </a:t>
            </a:r>
            <a:r>
              <a:rPr sz="1600">
                <a:solidFill>
                  <a:srgbClr val="96A0B4"/>
                </a:solidFill>
                <a:latin typeface="Noto Sans"/>
              </a:rPr>
              <a:t>- Hindi-script name lookup on top of the bilingual speech layer.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600" b="1">
                <a:solidFill>
                  <a:srgbClr val="F0F2F8"/>
                </a:solidFill>
                <a:latin typeface="Noto Sans"/>
              </a:rPr>
              <a:t>Fund utilization data </a:t>
            </a:r>
            <a:r>
              <a:rPr sz="1600">
                <a:solidFill>
                  <a:srgbClr val="96A0B4"/>
                </a:solidFill>
                <a:latin typeface="Noto Sans"/>
              </a:rPr>
              <a:t>- MPLADS spending answers when a reliable public source lands.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600" b="1">
                <a:solidFill>
                  <a:srgbClr val="F0F2F8"/>
                </a:solidFill>
                <a:latin typeface="Noto Sans"/>
              </a:rPr>
              <a:t>Outbound calls &amp; WhatsApp </a:t>
            </a:r>
            <a:r>
              <a:rPr sz="1600">
                <a:solidFill>
                  <a:srgbClr val="96A0B4"/>
                </a:solidFill>
                <a:latin typeface="Noto Sans"/>
              </a:rPr>
              <a:t>- meet voters where they already are.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CBE78"/>
                </a:solidFill>
                <a:latin typeface="Noto Sans"/>
              </a:rPr>
              <a:t>▸  </a:t>
            </a:r>
            <a:r>
              <a:rPr sz="1600" b="1">
                <a:solidFill>
                  <a:srgbClr val="F0F2F8"/>
                </a:solidFill>
                <a:latin typeface="Noto Sans"/>
              </a:rPr>
              <a:t>Comparisons </a:t>
            </a:r>
            <a:r>
              <a:rPr sz="1600">
                <a:solidFill>
                  <a:srgbClr val="96A0B4"/>
                </a:solidFill>
                <a:latin typeface="Noto Sans"/>
              </a:rPr>
              <a:t>- MP vs MP and party-level rollups in one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20240"/>
            <a:ext cx="4480560" cy="3566160"/>
          </a:xfrm>
          <a:prstGeom prst="roundRect">
            <a:avLst>
              <a:gd name="adj" fmla="val 6000"/>
            </a:avLst>
          </a:prstGeom>
          <a:solidFill>
            <a:srgbClr val="181E30"/>
          </a:solidFill>
          <a:ln w="15875">
            <a:solidFill>
              <a:srgbClr val="2D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148840"/>
            <a:ext cx="39319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0F2F8"/>
                </a:solidFill>
                <a:latin typeface="Noto Sans"/>
              </a:rPr>
              <a:t>Try it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5AC8FA"/>
                </a:solidFill>
                <a:latin typeface="Noto Sans"/>
              </a:rPr>
              <a:t>Voice: netagym-voice.onrender.com/talk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5AC8FA"/>
                </a:solidFill>
                <a:latin typeface="Noto Sans"/>
              </a:rPr>
              <a:t>Text: netagym-voice.onrender.com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5AC8FA"/>
                </a:solidFill>
                <a:latin typeface="Noto Sans"/>
              </a:rPr>
              <a:t>Tracker: neta-gym.github.io/mp-transparency-tracker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5AC8FA"/>
                </a:solidFill>
                <a:latin typeface="Noto Sans"/>
              </a:rPr>
              <a:t>Code: github.com/neta-gym/mp-transparency-tracker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A0B4"/>
                </a:solidFill>
                <a:latin typeface="Noto Sans"/>
              </a:rPr>
              <a:t>Team: Neta Gym - AssemblyAI Voice Agent Hackathon, lablab.ai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Neta Gym Voice - AssemblyAI Voice Agent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6A0B4"/>
                </a:solidFill>
                <a:latin typeface="Noto Sa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